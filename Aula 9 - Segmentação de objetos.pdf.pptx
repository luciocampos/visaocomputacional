
<file path=[Content_Types].xml><?xml version="1.0" encoding="utf-8"?>
<Types xmlns="http://schemas.openxmlformats.org/package/2006/content-types">
  <Default Extension="gif" ContentType="image/gif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48" r:id="rId3"/>
    <p:sldId id="278" r:id="rId4"/>
    <p:sldId id="381" r:id="rId5"/>
    <p:sldId id="382" r:id="rId6"/>
    <p:sldId id="383" r:id="rId7"/>
    <p:sldId id="384" r:id="rId8"/>
    <p:sldId id="385" r:id="rId9"/>
    <p:sldId id="386" r:id="rId10"/>
    <p:sldId id="387" r:id="rId11"/>
    <p:sldId id="388" r:id="rId12"/>
    <p:sldId id="389" r:id="rId13"/>
    <p:sldId id="390" r:id="rId14"/>
    <p:sldId id="391" r:id="rId15"/>
    <p:sldId id="392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  <a:srgbClr val="002060"/>
    <a:srgbClr val="D9D9D9"/>
    <a:srgbClr val="F2F2F2"/>
    <a:srgbClr val="FFFFFF"/>
    <a:srgbClr val="A8B6C8"/>
    <a:srgbClr val="DAE3F3"/>
    <a:srgbClr val="BAC5D3"/>
    <a:srgbClr val="ADB9CA"/>
    <a:srgbClr val="8497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35" d="100"/>
          <a:sy n="35" d="100"/>
        </p:scale>
        <p:origin x="1110" y="60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A395F4-CC22-4817-A0D6-20E7D3D011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2E2CAD-6ABE-4E93-992D-803A61024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5BB4B6-F801-4A4B-B046-E6E70A4FA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45AF-F68B-4E28-8DEC-B79D748FC0E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625EE83-6F27-435B-97A2-88FD01820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211EAB9-9B9F-4800-BBA0-DD544D2AF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1284-E6E6-48BD-A070-288C937724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951353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15DEEA-90C7-49E9-A3B4-D525408BC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57F34E-2CFA-4417-B639-24BA3E2ED9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8EF68DE-F4CA-4351-BB00-1336EC587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45AF-F68B-4E28-8DEC-B79D748FC0E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A9BD31-273D-44AE-9CED-0136BCE4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39827C-CA60-448E-AD6F-6B435E74F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1284-E6E6-48BD-A070-288C937724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5973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221D73-77FD-4A50-9BF6-CD6809BFA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C21805-47A0-4E76-8810-63EE62C6D2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E81359-CD46-49DD-804A-247A334B3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45AF-F68B-4E28-8DEC-B79D748FC0E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8D6E46-8A6D-43B3-B11A-7F812B68D4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EED3E2-3842-48CF-B8B6-C94E18CCA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1284-E6E6-48BD-A070-288C937724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5313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DEC1AC-E065-4C40-B3D2-6C2FA6EE6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734C22-B6F1-4431-B5AE-4ADF423C2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92B49D0-887C-406B-9B51-AEF967711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F71511-1653-4111-9997-7C6F700C3B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45AF-F68B-4E28-8DEC-B79D748FC0E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2F439B-243A-49E4-B1E2-C13CBE624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ADC42D1-B31B-43E2-858A-A8C2D16FE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1284-E6E6-48BD-A070-288C937724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1096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DDF231-6B06-4453-8A38-309A460FC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6236FED-F9B7-4309-8351-4567251AE1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38FC577-A2DD-48BE-B8F5-B9246C822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905106F-97AC-4B7E-AAA6-400783912F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2CFEBBE-308A-4B03-81E4-143FAF59F3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8D48431-52B3-4735-A531-EFAC8FDB3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45AF-F68B-4E28-8DEC-B79D748FC0E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198008D-D358-48B8-B033-C1558355AD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8A1C055-25A6-405D-B025-E6728AC8B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1284-E6E6-48BD-A070-288C937724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5547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1C9BAA-BA5D-4689-BC38-E6643BF3B3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6E9A21C-C9BB-4343-9404-D5B79CDB6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45AF-F68B-4E28-8DEC-B79D748FC0E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9BA1191-AB38-4B5A-8255-522C347A6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A1DC285-CCFF-4EFD-AFE0-6C761F18B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1284-E6E6-48BD-A070-288C937724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387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7F1D76-DCB6-4EA1-9426-5675D90A7F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45AF-F68B-4E28-8DEC-B79D748FC0E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0E5CB89-CF29-48E7-BCE9-720D24E50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41380DC-6375-49AE-9E92-BC6319B75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1284-E6E6-48BD-A070-288C937724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8080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9EF112-DF17-4165-AFFA-F9B45AE4D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C5234F-2823-4A67-AFC2-D87D907B0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FC515E0-110E-4DC9-AD14-973E1AFE0C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6FFF625-D383-4647-9236-FC88A183C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45AF-F68B-4E28-8DEC-B79D748FC0E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9BC3C4-C808-47B8-B1AC-CB4AD4490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DAE9E4-76A2-434C-BAED-CEE7FD348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1284-E6E6-48BD-A070-288C937724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24793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EC1289-2300-4E18-9E67-EF97BB297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ABFF0EC-F85B-41C1-AF6A-6842FE4DA5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F1184F6-4C40-41C5-906A-A978086651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CA2F38-EA0F-452C-9E98-FA08BAE50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45AF-F68B-4E28-8DEC-B79D748FC0E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30371F8-A9B7-4299-99EC-8C039A33E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ACA231-D10F-4403-8ACA-4E31B6330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1284-E6E6-48BD-A070-288C937724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06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F3B500-70C8-4D81-B09A-E41A93098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569875-6EC5-4533-BC87-8BE3DE4522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316B55-761C-4B3B-AC15-25D0338FD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45AF-F68B-4E28-8DEC-B79D748FC0E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3D6C3E-7D51-45C9-A690-F505D9686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229C88-4357-4F21-9E09-75BABF98C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1284-E6E6-48BD-A070-288C937724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7214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5296F5D-02B5-48D2-B2DA-ED83DB109B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D91EF0A-1966-4389-B5E7-82E6D58D51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92B1E5B-F841-492F-AC2D-5FB908AF8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45AF-F68B-4E28-8DEC-B79D748FC0E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0BE1BAD-69F3-42C9-9AAC-BC4B945E4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9599E88-5B83-42DF-B7FB-59C4185F0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831284-E6E6-48BD-A070-288C937724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0562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EB75026-5798-4429-955E-E2AA2E9F3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17B1B33-9F84-4446-9AD5-E85DA2CAFB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7AC92E-1ACF-4053-B3E7-2684673E41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845AF-F68B-4E28-8DEC-B79D748FC0E5}" type="datetimeFigureOut">
              <a:rPr lang="pt-BR" smtClean="0"/>
              <a:t>26/09/2026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A22BC14-1606-4C24-8DFA-DABB7AAB5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265C62-2AF9-4D68-8221-1CDD94139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831284-E6E6-48BD-A070-288C9377248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3556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ocial Distancing Monitoring System - Java">
            <a:hlinkClick r:id="" action="ppaction://media"/>
            <a:extLst>
              <a:ext uri="{FF2B5EF4-FFF2-40B4-BE49-F238E27FC236}">
                <a16:creationId xmlns:a16="http://schemas.microsoft.com/office/drawing/2014/main" id="{8FF8C6D7-3129-4F94-BA58-70BB1E1FDD4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-1023170" y="-280089"/>
            <a:ext cx="12689934" cy="7138089"/>
          </a:xfrm>
          <a:prstGeom prst="rect">
            <a:avLst/>
          </a:prstGeom>
        </p:spPr>
      </p:pic>
      <p:sp>
        <p:nvSpPr>
          <p:cNvPr id="11" name="Forma Livre: Forma 10">
            <a:extLst>
              <a:ext uri="{FF2B5EF4-FFF2-40B4-BE49-F238E27FC236}">
                <a16:creationId xmlns:a16="http://schemas.microsoft.com/office/drawing/2014/main" id="{58237E0D-CC86-4F9A-B799-6DE41E9CED3F}"/>
              </a:ext>
            </a:extLst>
          </p:cNvPr>
          <p:cNvSpPr/>
          <p:nvPr/>
        </p:nvSpPr>
        <p:spPr>
          <a:xfrm>
            <a:off x="4948872" y="0"/>
            <a:ext cx="7141528" cy="6858000"/>
          </a:xfrm>
          <a:custGeom>
            <a:avLst/>
            <a:gdLst>
              <a:gd name="connsiteX0" fmla="*/ 190453 w 7141528"/>
              <a:gd name="connsiteY0" fmla="*/ 0 h 6858000"/>
              <a:gd name="connsiteX1" fmla="*/ 343474 w 7141528"/>
              <a:gd name="connsiteY1" fmla="*/ 0 h 6858000"/>
              <a:gd name="connsiteX2" fmla="*/ 450318 w 7141528"/>
              <a:gd name="connsiteY2" fmla="*/ 85954 h 6858000"/>
              <a:gd name="connsiteX3" fmla="*/ 2004380 w 7141528"/>
              <a:gd name="connsiteY3" fmla="*/ 3346846 h 6858000"/>
              <a:gd name="connsiteX4" fmla="*/ 278204 w 7141528"/>
              <a:gd name="connsiteY4" fmla="*/ 6746200 h 6858000"/>
              <a:gd name="connsiteX5" fmla="*/ 139700 w 7141528"/>
              <a:gd name="connsiteY5" fmla="*/ 6847284 h 6858000"/>
              <a:gd name="connsiteX6" fmla="*/ 7141528 w 7141528"/>
              <a:gd name="connsiteY6" fmla="*/ 6847284 h 6858000"/>
              <a:gd name="connsiteX7" fmla="*/ 7141528 w 7141528"/>
              <a:gd name="connsiteY7" fmla="*/ 6858000 h 6858000"/>
              <a:gd name="connsiteX8" fmla="*/ 0 w 7141528"/>
              <a:gd name="connsiteY8" fmla="*/ 6858000 h 6858000"/>
              <a:gd name="connsiteX9" fmla="*/ 138504 w 7141528"/>
              <a:gd name="connsiteY9" fmla="*/ 6756916 h 6858000"/>
              <a:gd name="connsiteX10" fmla="*/ 1864680 w 7141528"/>
              <a:gd name="connsiteY10" fmla="*/ 3357562 h 6858000"/>
              <a:gd name="connsiteX11" fmla="*/ 310618 w 7141528"/>
              <a:gd name="connsiteY11" fmla="*/ 96670 h 6858000"/>
              <a:gd name="connsiteX12" fmla="*/ 190453 w 7141528"/>
              <a:gd name="connsiteY12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7141528" h="6858000">
                <a:moveTo>
                  <a:pt x="190453" y="0"/>
                </a:moveTo>
                <a:lnTo>
                  <a:pt x="343474" y="0"/>
                </a:lnTo>
                <a:lnTo>
                  <a:pt x="450318" y="85954"/>
                </a:lnTo>
                <a:cubicBezTo>
                  <a:pt x="1405011" y="891808"/>
                  <a:pt x="2004380" y="2054322"/>
                  <a:pt x="2004380" y="3346846"/>
                </a:cubicBezTo>
                <a:cubicBezTo>
                  <a:pt x="2004380" y="4715401"/>
                  <a:pt x="1332424" y="5938201"/>
                  <a:pt x="278204" y="6746200"/>
                </a:cubicBezTo>
                <a:lnTo>
                  <a:pt x="139700" y="6847284"/>
                </a:lnTo>
                <a:lnTo>
                  <a:pt x="7141528" y="6847284"/>
                </a:lnTo>
                <a:lnTo>
                  <a:pt x="7141528" y="6858000"/>
                </a:lnTo>
                <a:lnTo>
                  <a:pt x="0" y="6858000"/>
                </a:lnTo>
                <a:lnTo>
                  <a:pt x="138504" y="6756916"/>
                </a:lnTo>
                <a:cubicBezTo>
                  <a:pt x="1192724" y="5948917"/>
                  <a:pt x="1864680" y="4726117"/>
                  <a:pt x="1864680" y="3357562"/>
                </a:cubicBezTo>
                <a:cubicBezTo>
                  <a:pt x="1864680" y="2065038"/>
                  <a:pt x="1265311" y="902524"/>
                  <a:pt x="310618" y="96670"/>
                </a:cubicBezTo>
                <a:lnTo>
                  <a:pt x="190453" y="0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3" name="Forma Livre: Forma 12">
            <a:extLst>
              <a:ext uri="{FF2B5EF4-FFF2-40B4-BE49-F238E27FC236}">
                <a16:creationId xmlns:a16="http://schemas.microsoft.com/office/drawing/2014/main" id="{8A5E15F1-CA93-49EC-9BD4-2084FB28D9A1}"/>
              </a:ext>
            </a:extLst>
          </p:cNvPr>
          <p:cNvSpPr/>
          <p:nvPr/>
        </p:nvSpPr>
        <p:spPr>
          <a:xfrm>
            <a:off x="4999672" y="-86915"/>
            <a:ext cx="7090728" cy="7006430"/>
          </a:xfrm>
          <a:custGeom>
            <a:avLst/>
            <a:gdLst>
              <a:gd name="connsiteX0" fmla="*/ 203774 w 7001828"/>
              <a:gd name="connsiteY0" fmla="*/ 0 h 6847284"/>
              <a:gd name="connsiteX1" fmla="*/ 7001828 w 7001828"/>
              <a:gd name="connsiteY1" fmla="*/ 0 h 6847284"/>
              <a:gd name="connsiteX2" fmla="*/ 7001828 w 7001828"/>
              <a:gd name="connsiteY2" fmla="*/ 6847284 h 6847284"/>
              <a:gd name="connsiteX3" fmla="*/ 0 w 7001828"/>
              <a:gd name="connsiteY3" fmla="*/ 6847284 h 6847284"/>
              <a:gd name="connsiteX4" fmla="*/ 138504 w 7001828"/>
              <a:gd name="connsiteY4" fmla="*/ 6746200 h 6847284"/>
              <a:gd name="connsiteX5" fmla="*/ 1864680 w 7001828"/>
              <a:gd name="connsiteY5" fmla="*/ 3346846 h 6847284"/>
              <a:gd name="connsiteX6" fmla="*/ 310618 w 7001828"/>
              <a:gd name="connsiteY6" fmla="*/ 85954 h 6847284"/>
              <a:gd name="connsiteX7" fmla="*/ 203774 w 7001828"/>
              <a:gd name="connsiteY7" fmla="*/ 0 h 6847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001828" h="6847284">
                <a:moveTo>
                  <a:pt x="203774" y="0"/>
                </a:moveTo>
                <a:lnTo>
                  <a:pt x="7001828" y="0"/>
                </a:lnTo>
                <a:lnTo>
                  <a:pt x="7001828" y="6847284"/>
                </a:lnTo>
                <a:lnTo>
                  <a:pt x="0" y="6847284"/>
                </a:lnTo>
                <a:lnTo>
                  <a:pt x="138504" y="6746200"/>
                </a:lnTo>
                <a:cubicBezTo>
                  <a:pt x="1192724" y="5938201"/>
                  <a:pt x="1864680" y="4715401"/>
                  <a:pt x="1864680" y="3346846"/>
                </a:cubicBezTo>
                <a:cubicBezTo>
                  <a:pt x="1864680" y="2054322"/>
                  <a:pt x="1265311" y="891808"/>
                  <a:pt x="310618" y="85954"/>
                </a:cubicBezTo>
                <a:lnTo>
                  <a:pt x="203774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pt-BR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8D46A96-5A23-4E6F-A983-48ADD0547989}"/>
              </a:ext>
            </a:extLst>
          </p:cNvPr>
          <p:cNvSpPr txBox="1"/>
          <p:nvPr/>
        </p:nvSpPr>
        <p:spPr>
          <a:xfrm>
            <a:off x="7150100" y="2935012"/>
            <a:ext cx="469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Processamento de Imagens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6CD0D8C1-F0BD-48A3-AD0C-CF78D1D8B7E7}"/>
              </a:ext>
            </a:extLst>
          </p:cNvPr>
          <p:cNvSpPr txBox="1"/>
          <p:nvPr/>
        </p:nvSpPr>
        <p:spPr>
          <a:xfrm>
            <a:off x="7283450" y="4902200"/>
            <a:ext cx="4432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solidFill>
                  <a:srgbClr val="002060"/>
                </a:solidFill>
                <a:latin typeface="Agency FB" panose="020B0503020202020204" pitchFamily="34" charset="0"/>
              </a:rPr>
              <a:t>Prof. Dr. Lúcio Flávio de A Campos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53B4138-5456-4A09-9CA1-53279E997313}"/>
              </a:ext>
            </a:extLst>
          </p:cNvPr>
          <p:cNvSpPr txBox="1"/>
          <p:nvPr/>
        </p:nvSpPr>
        <p:spPr>
          <a:xfrm>
            <a:off x="7283450" y="3782943"/>
            <a:ext cx="4383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Aula 9 </a:t>
            </a:r>
            <a:r>
              <a:rPr lang="pt-BR" sz="28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– Segmentação de Objetos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667248D-27E9-F212-079A-8DA2939940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3409" y="150412"/>
            <a:ext cx="2866390" cy="1104091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511B0C2-CC9E-0292-9219-5C06F55B994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7486" y="5212358"/>
            <a:ext cx="3470239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952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37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Agrupar 15">
            <a:extLst>
              <a:ext uri="{FF2B5EF4-FFF2-40B4-BE49-F238E27FC236}">
                <a16:creationId xmlns:a16="http://schemas.microsoft.com/office/drawing/2014/main" id="{13136F47-839C-4AC1-9FBF-DC938CA0585F}"/>
              </a:ext>
            </a:extLst>
          </p:cNvPr>
          <p:cNvGrpSpPr/>
          <p:nvPr/>
        </p:nvGrpSpPr>
        <p:grpSpPr>
          <a:xfrm>
            <a:off x="5990056" y="250878"/>
            <a:ext cx="6342295" cy="2282400"/>
            <a:chOff x="5990056" y="250878"/>
            <a:chExt cx="6342295" cy="2282400"/>
          </a:xfrm>
          <a:solidFill>
            <a:schemeClr val="accent1">
              <a:lumMod val="20000"/>
              <a:lumOff val="80000"/>
            </a:schemeClr>
          </a:solidFill>
        </p:grpSpPr>
        <p:sp>
          <p:nvSpPr>
            <p:cNvPr id="4" name="Retângulo 3">
              <a:extLst>
                <a:ext uri="{FF2B5EF4-FFF2-40B4-BE49-F238E27FC236}">
                  <a16:creationId xmlns:a16="http://schemas.microsoft.com/office/drawing/2014/main" id="{41641853-D3EC-4FF5-A533-EF61FBA2AA00}"/>
                </a:ext>
              </a:extLst>
            </p:cNvPr>
            <p:cNvSpPr/>
            <p:nvPr/>
          </p:nvSpPr>
          <p:spPr>
            <a:xfrm rot="10800000">
              <a:off x="8696351" y="1829392"/>
              <a:ext cx="3636000" cy="334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5" name="Semicírculo 4">
              <a:extLst>
                <a:ext uri="{FF2B5EF4-FFF2-40B4-BE49-F238E27FC236}">
                  <a16:creationId xmlns:a16="http://schemas.microsoft.com/office/drawing/2014/main" id="{0B65F632-2582-4B5B-AAF4-933C171F786B}"/>
                </a:ext>
              </a:extLst>
            </p:cNvPr>
            <p:cNvSpPr/>
            <p:nvPr/>
          </p:nvSpPr>
          <p:spPr>
            <a:xfrm rot="16200000">
              <a:off x="7934047" y="598192"/>
              <a:ext cx="1566000" cy="1566000"/>
            </a:xfrm>
            <a:prstGeom prst="blockArc">
              <a:avLst>
                <a:gd name="adj1" fmla="val 10800000"/>
                <a:gd name="adj2" fmla="val 16188146"/>
                <a:gd name="adj3" fmla="val 2157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6" name="Semicírculo 5">
              <a:extLst>
                <a:ext uri="{FF2B5EF4-FFF2-40B4-BE49-F238E27FC236}">
                  <a16:creationId xmlns:a16="http://schemas.microsoft.com/office/drawing/2014/main" id="{C3C4B5D6-3CFE-4915-9944-9461BDBF3464}"/>
                </a:ext>
              </a:extLst>
            </p:cNvPr>
            <p:cNvSpPr/>
            <p:nvPr/>
          </p:nvSpPr>
          <p:spPr>
            <a:xfrm rot="10800000" flipV="1">
              <a:off x="5990056" y="250878"/>
              <a:ext cx="2282400" cy="2282400"/>
            </a:xfrm>
            <a:prstGeom prst="blockArc">
              <a:avLst>
                <a:gd name="adj1" fmla="val 10800000"/>
                <a:gd name="adj2" fmla="val 5427253"/>
                <a:gd name="adj3" fmla="val 1494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</p:grpSp>
      <p:sp>
        <p:nvSpPr>
          <p:cNvPr id="7" name="Semicírculo 6">
            <a:extLst>
              <a:ext uri="{FF2B5EF4-FFF2-40B4-BE49-F238E27FC236}">
                <a16:creationId xmlns:a16="http://schemas.microsoft.com/office/drawing/2014/main" id="{832348E9-A915-417A-BFCF-E7B950C6694A}"/>
              </a:ext>
            </a:extLst>
          </p:cNvPr>
          <p:cNvSpPr/>
          <p:nvPr/>
        </p:nvSpPr>
        <p:spPr>
          <a:xfrm rot="10800000" flipH="1">
            <a:off x="5990056" y="2193502"/>
            <a:ext cx="2282400" cy="2282400"/>
          </a:xfrm>
          <a:prstGeom prst="blockArc">
            <a:avLst>
              <a:gd name="adj1" fmla="val 10800000"/>
              <a:gd name="adj2" fmla="val 5427253"/>
              <a:gd name="adj3" fmla="val 14944"/>
            </a:avLst>
          </a:prstGeom>
          <a:solidFill>
            <a:srgbClr val="9DB6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0CD65090-6C08-41E0-B14E-F76DF7ADA1C6}"/>
              </a:ext>
            </a:extLst>
          </p:cNvPr>
          <p:cNvGrpSpPr/>
          <p:nvPr/>
        </p:nvGrpSpPr>
        <p:grpSpPr>
          <a:xfrm>
            <a:off x="6144" y="4229814"/>
            <a:ext cx="6322017" cy="2282400"/>
            <a:chOff x="6144" y="4229814"/>
            <a:chExt cx="6322017" cy="2282400"/>
          </a:xfrm>
          <a:solidFill>
            <a:srgbClr val="002060"/>
          </a:solidFill>
        </p:grpSpPr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F49ADAB4-47CB-4696-B8A2-3DEC8DBF8CA1}"/>
                </a:ext>
              </a:extLst>
            </p:cNvPr>
            <p:cNvSpPr/>
            <p:nvPr/>
          </p:nvSpPr>
          <p:spPr>
            <a:xfrm>
              <a:off x="6144" y="4598900"/>
              <a:ext cx="3636000" cy="334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" name="Semicírculo 10">
              <a:extLst>
                <a:ext uri="{FF2B5EF4-FFF2-40B4-BE49-F238E27FC236}">
                  <a16:creationId xmlns:a16="http://schemas.microsoft.com/office/drawing/2014/main" id="{0CD3878A-660C-4EC2-AF6C-70086FF911B8}"/>
                </a:ext>
              </a:extLst>
            </p:cNvPr>
            <p:cNvSpPr/>
            <p:nvPr/>
          </p:nvSpPr>
          <p:spPr>
            <a:xfrm rot="5400000">
              <a:off x="2818170" y="4598900"/>
              <a:ext cx="1566000" cy="1566000"/>
            </a:xfrm>
            <a:prstGeom prst="blockArc">
              <a:avLst>
                <a:gd name="adj1" fmla="val 10800000"/>
                <a:gd name="adj2" fmla="val 16188146"/>
                <a:gd name="adj3" fmla="val 21573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12" name="Semicírculo 11">
              <a:extLst>
                <a:ext uri="{FF2B5EF4-FFF2-40B4-BE49-F238E27FC236}">
                  <a16:creationId xmlns:a16="http://schemas.microsoft.com/office/drawing/2014/main" id="{2D3F3E06-B7F0-472C-B8E6-68B732885F3A}"/>
                </a:ext>
              </a:extLst>
            </p:cNvPr>
            <p:cNvSpPr/>
            <p:nvPr/>
          </p:nvSpPr>
          <p:spPr>
            <a:xfrm flipV="1">
              <a:off x="4045761" y="4229814"/>
              <a:ext cx="2282400" cy="2282400"/>
            </a:xfrm>
            <a:prstGeom prst="blockArc">
              <a:avLst>
                <a:gd name="adj1" fmla="val 10800000"/>
                <a:gd name="adj2" fmla="val 5427253"/>
                <a:gd name="adj3" fmla="val 14944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</p:grpSp>
      <p:sp>
        <p:nvSpPr>
          <p:cNvPr id="13" name="Semicírculo 12">
            <a:extLst>
              <a:ext uri="{FF2B5EF4-FFF2-40B4-BE49-F238E27FC236}">
                <a16:creationId xmlns:a16="http://schemas.microsoft.com/office/drawing/2014/main" id="{BA2C89D5-3D90-4667-B69D-F5D9F948CEEA}"/>
              </a:ext>
            </a:extLst>
          </p:cNvPr>
          <p:cNvSpPr/>
          <p:nvPr/>
        </p:nvSpPr>
        <p:spPr>
          <a:xfrm flipH="1">
            <a:off x="4045761" y="2287190"/>
            <a:ext cx="2282400" cy="2282400"/>
          </a:xfrm>
          <a:prstGeom prst="blockArc">
            <a:avLst>
              <a:gd name="adj1" fmla="val 10800000"/>
              <a:gd name="adj2" fmla="val 5427253"/>
              <a:gd name="adj3" fmla="val 1494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3CEC7196-F6C4-458C-9B47-B302CD72A7DC}"/>
              </a:ext>
            </a:extLst>
          </p:cNvPr>
          <p:cNvSpPr txBox="1"/>
          <p:nvPr/>
        </p:nvSpPr>
        <p:spPr>
          <a:xfrm>
            <a:off x="874179" y="5302786"/>
            <a:ext cx="29501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Segmentação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DE69A40-7FF8-4AE1-BC91-C0A1AF0E7975}"/>
              </a:ext>
            </a:extLst>
          </p:cNvPr>
          <p:cNvSpPr txBox="1"/>
          <p:nvPr/>
        </p:nvSpPr>
        <p:spPr>
          <a:xfrm>
            <a:off x="8285955" y="971903"/>
            <a:ext cx="34447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GrabCut</a:t>
            </a:r>
            <a:endParaRPr lang="pt-B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189ABAF1-2506-4834-AA74-269CA170BF2C}"/>
              </a:ext>
            </a:extLst>
          </p:cNvPr>
          <p:cNvSpPr txBox="1"/>
          <p:nvPr/>
        </p:nvSpPr>
        <p:spPr>
          <a:xfrm>
            <a:off x="8081172" y="3028214"/>
            <a:ext cx="363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Transformada de </a:t>
            </a:r>
            <a:r>
              <a:rPr lang="pt-BR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Hough</a:t>
            </a:r>
            <a:endParaRPr lang="pt-BR" sz="2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EF4284BD-D141-4F4B-8E30-58978B5D30CB}"/>
              </a:ext>
            </a:extLst>
          </p:cNvPr>
          <p:cNvSpPr txBox="1"/>
          <p:nvPr/>
        </p:nvSpPr>
        <p:spPr>
          <a:xfrm>
            <a:off x="1188721" y="2883953"/>
            <a:ext cx="27717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Binarização</a:t>
            </a:r>
            <a:r>
              <a:rPr lang="pt-BR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de OTSU</a:t>
            </a: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658FBD2E-8E9E-4D6E-9347-8D60AF8CA976}"/>
              </a:ext>
            </a:extLst>
          </p:cNvPr>
          <p:cNvSpPr/>
          <p:nvPr/>
        </p:nvSpPr>
        <p:spPr>
          <a:xfrm>
            <a:off x="4529961" y="4733064"/>
            <a:ext cx="1314000" cy="1314000"/>
          </a:xfrm>
          <a:prstGeom prst="ellipse">
            <a:avLst/>
          </a:prstGeom>
          <a:solidFill>
            <a:srgbClr val="002060"/>
          </a:solidFill>
          <a:ln>
            <a:noFill/>
          </a:ln>
          <a:effectLst>
            <a:outerShdw blurRad="57150" dist="19050" dir="5400000" algn="ctr" rotWithShape="0">
              <a:schemeClr val="tx1">
                <a:alpha val="6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E1C1742B-36E1-4DE3-9EF1-FA335D004F42}"/>
              </a:ext>
            </a:extLst>
          </p:cNvPr>
          <p:cNvSpPr/>
          <p:nvPr/>
        </p:nvSpPr>
        <p:spPr>
          <a:xfrm>
            <a:off x="4491861" y="2714850"/>
            <a:ext cx="1314000" cy="131400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7150" dist="19050" dir="5400000" algn="ctr" rotWithShape="0">
              <a:schemeClr val="tx1">
                <a:alpha val="6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9" name="Elipse 18">
            <a:extLst>
              <a:ext uri="{FF2B5EF4-FFF2-40B4-BE49-F238E27FC236}">
                <a16:creationId xmlns:a16="http://schemas.microsoft.com/office/drawing/2014/main" id="{F702C349-77A1-4B16-89BB-B87BE515B847}"/>
              </a:ext>
            </a:extLst>
          </p:cNvPr>
          <p:cNvSpPr/>
          <p:nvPr/>
        </p:nvSpPr>
        <p:spPr>
          <a:xfrm>
            <a:off x="6498666" y="2677702"/>
            <a:ext cx="1314000" cy="1314000"/>
          </a:xfrm>
          <a:prstGeom prst="ellipse">
            <a:avLst/>
          </a:prstGeom>
          <a:solidFill>
            <a:srgbClr val="9DB6DF"/>
          </a:solidFill>
          <a:ln>
            <a:noFill/>
          </a:ln>
          <a:effectLst>
            <a:outerShdw blurRad="57150" dist="19050" dir="5400000" algn="ctr" rotWithShape="0">
              <a:schemeClr val="tx1">
                <a:alpha val="6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8" name="Elipse 17">
            <a:extLst>
              <a:ext uri="{FF2B5EF4-FFF2-40B4-BE49-F238E27FC236}">
                <a16:creationId xmlns:a16="http://schemas.microsoft.com/office/drawing/2014/main" id="{4CCDD04D-9F3C-4773-B8E3-AFEBDC2B6CC3}"/>
              </a:ext>
            </a:extLst>
          </p:cNvPr>
          <p:cNvSpPr/>
          <p:nvPr/>
        </p:nvSpPr>
        <p:spPr>
          <a:xfrm>
            <a:off x="6455205" y="677928"/>
            <a:ext cx="1314000" cy="1314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7150" dist="19050" dir="5400000" algn="ctr" rotWithShape="0">
              <a:schemeClr val="tx1">
                <a:alpha val="63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5EAE257F-AD13-4A90-836D-E80B01DBF15C}"/>
              </a:ext>
            </a:extLst>
          </p:cNvPr>
          <p:cNvSpPr txBox="1"/>
          <p:nvPr/>
        </p:nvSpPr>
        <p:spPr>
          <a:xfrm>
            <a:off x="-2487072" y="86025"/>
            <a:ext cx="91341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Roteiro da aula de hoje</a:t>
            </a:r>
          </a:p>
        </p:txBody>
      </p:sp>
      <p:sp>
        <p:nvSpPr>
          <p:cNvPr id="41" name="Retângulo: Cantos Arredondados 40">
            <a:extLst>
              <a:ext uri="{FF2B5EF4-FFF2-40B4-BE49-F238E27FC236}">
                <a16:creationId xmlns:a16="http://schemas.microsoft.com/office/drawing/2014/main" id="{884589E1-7A5E-4BE5-9CC8-1FDF7C07E765}"/>
              </a:ext>
            </a:extLst>
          </p:cNvPr>
          <p:cNvSpPr/>
          <p:nvPr/>
        </p:nvSpPr>
        <p:spPr>
          <a:xfrm>
            <a:off x="131962" y="680194"/>
            <a:ext cx="3937613" cy="53276"/>
          </a:xfrm>
          <a:prstGeom prst="roundRect">
            <a:avLst/>
          </a:prstGeom>
          <a:solidFill>
            <a:srgbClr val="002060"/>
          </a:solidFill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32" name="Imagem 31" descr="Texto&#10;&#10;Descrição gerada automaticamente">
            <a:extLst>
              <a:ext uri="{FF2B5EF4-FFF2-40B4-BE49-F238E27FC236}">
                <a16:creationId xmlns:a16="http://schemas.microsoft.com/office/drawing/2014/main" id="{89A8A5A1-3891-4973-9F15-4DC7936F97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5165" y="5286015"/>
            <a:ext cx="4087186" cy="1757770"/>
          </a:xfrm>
          <a:prstGeom prst="rect">
            <a:avLst/>
          </a:prstGeom>
        </p:spPr>
      </p:pic>
      <p:sp>
        <p:nvSpPr>
          <p:cNvPr id="34" name="CaixaDeTexto 33">
            <a:extLst>
              <a:ext uri="{FF2B5EF4-FFF2-40B4-BE49-F238E27FC236}">
                <a16:creationId xmlns:a16="http://schemas.microsoft.com/office/drawing/2014/main" id="{EA20CB11-3F6C-4BB2-A627-FDC5572BC082}"/>
              </a:ext>
            </a:extLst>
          </p:cNvPr>
          <p:cNvSpPr txBox="1"/>
          <p:nvPr/>
        </p:nvSpPr>
        <p:spPr>
          <a:xfrm>
            <a:off x="5032216" y="5005343"/>
            <a:ext cx="5003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rgbClr val="DAE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1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1D1E1B9-80BB-4E35-9E9D-5665E17D995F}"/>
              </a:ext>
            </a:extLst>
          </p:cNvPr>
          <p:cNvSpPr txBox="1"/>
          <p:nvPr/>
        </p:nvSpPr>
        <p:spPr>
          <a:xfrm>
            <a:off x="4936780" y="3006939"/>
            <a:ext cx="5003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rgbClr val="DAE3F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2</a:t>
            </a: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AF798105-5A40-4666-81A4-523D620BDA20}"/>
              </a:ext>
            </a:extLst>
          </p:cNvPr>
          <p:cNvSpPr txBox="1"/>
          <p:nvPr/>
        </p:nvSpPr>
        <p:spPr>
          <a:xfrm>
            <a:off x="6905485" y="2960328"/>
            <a:ext cx="5003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3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1CCD3FF8-A3C0-4B1C-AA9E-B832A83DFE28}"/>
              </a:ext>
            </a:extLst>
          </p:cNvPr>
          <p:cNvSpPr txBox="1"/>
          <p:nvPr/>
        </p:nvSpPr>
        <p:spPr>
          <a:xfrm>
            <a:off x="6881074" y="927870"/>
            <a:ext cx="50036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4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751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500"/>
                            </p:stCondLst>
                            <p:childTnLst>
                              <p:par>
                                <p:cTn id="7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3" grpId="0" animBg="1"/>
      <p:bldP spid="22" grpId="0"/>
      <p:bldP spid="23" grpId="0"/>
      <p:bldP spid="24" grpId="0"/>
      <p:bldP spid="25" grpId="0"/>
      <p:bldP spid="17" grpId="0" animBg="1"/>
      <p:bldP spid="20" grpId="0" animBg="1"/>
      <p:bldP spid="19" grpId="0" animBg="1"/>
      <p:bldP spid="18" grpId="0" animBg="1"/>
      <p:bldP spid="34" grpId="0"/>
      <p:bldP spid="35" grpId="0"/>
      <p:bldP spid="36" grpId="0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1A5047E-4D7D-4859-97B7-99062A142F78}"/>
              </a:ext>
            </a:extLst>
          </p:cNvPr>
          <p:cNvSpPr txBox="1"/>
          <p:nvPr/>
        </p:nvSpPr>
        <p:spPr>
          <a:xfrm>
            <a:off x="418399" y="1107648"/>
            <a:ext cx="11355201" cy="29230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2400" dirty="0">
                <a:effectLst/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Segmentação visa extrair a informação útil de uma imagem, colocando as demais estruturas em </a:t>
            </a:r>
            <a:r>
              <a:rPr lang="pt-BR" sz="2400" i="1" dirty="0">
                <a:effectLst/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background.</a:t>
            </a:r>
            <a:endParaRPr lang="pt-BR" sz="2400" dirty="0">
              <a:effectLst/>
              <a:latin typeface="Agency FB" panose="020B05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2400" dirty="0"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informação útil da imagem é chamada de ROI (</a:t>
            </a:r>
            <a:r>
              <a:rPr lang="pt-BR" sz="2400" i="1" dirty="0" err="1"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Region</a:t>
            </a:r>
            <a:r>
              <a:rPr lang="pt-BR" sz="2400" i="1" dirty="0"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i="1" dirty="0" err="1"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  <a:r>
              <a:rPr lang="pt-BR" sz="2400" i="1" dirty="0"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2400" i="1" dirty="0" err="1"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Interest</a:t>
            </a:r>
            <a:r>
              <a:rPr lang="pt-BR" sz="2400" dirty="0"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pt-BR" sz="2400" dirty="0">
              <a:effectLst/>
              <a:latin typeface="Agency FB" panose="020B05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15000"/>
              </a:lnSpc>
              <a:spcAft>
                <a:spcPts val="1000"/>
              </a:spcAft>
              <a:tabLst>
                <a:tab pos="540385" algn="l"/>
              </a:tabLst>
            </a:pP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endParaRPr lang="pt-B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endParaRPr lang="pt-BR" sz="2400" dirty="0">
              <a:solidFill>
                <a:srgbClr val="000000"/>
              </a:solidFill>
              <a:effectLst/>
              <a:latin typeface="Agency FB" panose="020B0503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36824A5-7759-4A9A-B959-ED4E2B160A0F}"/>
              </a:ext>
            </a:extLst>
          </p:cNvPr>
          <p:cNvSpPr txBox="1"/>
          <p:nvPr/>
        </p:nvSpPr>
        <p:spPr>
          <a:xfrm>
            <a:off x="418399" y="265466"/>
            <a:ext cx="10461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Segmentação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A39C3E8-63A6-4A48-99F5-4F34F8E85DB1}"/>
              </a:ext>
            </a:extLst>
          </p:cNvPr>
          <p:cNvSpPr/>
          <p:nvPr/>
        </p:nvSpPr>
        <p:spPr>
          <a:xfrm flipV="1">
            <a:off x="480528" y="884901"/>
            <a:ext cx="2459318" cy="4571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gency FB" panose="020B0503020202020204" pitchFamily="34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8036BD6-7973-4B90-87D5-DE09C4BF71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9607" y="2579002"/>
            <a:ext cx="7852786" cy="35956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93851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1A5047E-4D7D-4859-97B7-99062A142F78}"/>
              </a:ext>
            </a:extLst>
          </p:cNvPr>
          <p:cNvSpPr txBox="1"/>
          <p:nvPr/>
        </p:nvSpPr>
        <p:spPr>
          <a:xfrm>
            <a:off x="418399" y="1107648"/>
            <a:ext cx="11355201" cy="5241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2400" dirty="0">
                <a:effectLst/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Segmentação, de um modo geral, é um processo de </a:t>
            </a:r>
            <a:r>
              <a:rPr lang="pt-BR" sz="2400" dirty="0" err="1">
                <a:effectLst/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binarização</a:t>
            </a:r>
            <a:endParaRPr lang="pt-BR" sz="2400" dirty="0">
              <a:effectLst/>
              <a:latin typeface="Agency FB" panose="020B05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2400" dirty="0"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Pode ser atribuído falsa cor para melhorar a visualização</a:t>
            </a:r>
            <a:endParaRPr lang="pt-BR" sz="2400" dirty="0">
              <a:effectLst/>
              <a:latin typeface="Agency FB" panose="020B05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2400" dirty="0">
                <a:effectLst/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Técnicas de Segmentação estudadas no curso</a:t>
            </a:r>
          </a:p>
          <a:p>
            <a:pPr marL="742950" lvl="1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2400" dirty="0" err="1">
                <a:effectLst/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Limiarizaçao</a:t>
            </a:r>
            <a:endParaRPr lang="pt-BR" sz="2400" dirty="0">
              <a:effectLst/>
              <a:latin typeface="Agency FB" panose="020B05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2400" dirty="0"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Binarização por OTSU</a:t>
            </a:r>
          </a:p>
          <a:p>
            <a:pPr marL="742950" lvl="1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2400" dirty="0">
                <a:effectLst/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Transformada de </a:t>
            </a:r>
            <a:r>
              <a:rPr lang="pt-BR" sz="2400" dirty="0" err="1">
                <a:effectLst/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Hough</a:t>
            </a:r>
            <a:endParaRPr lang="pt-BR" sz="2400" dirty="0">
              <a:effectLst/>
              <a:latin typeface="Agency FB" panose="020B05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2400" dirty="0"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Remoção de background</a:t>
            </a:r>
            <a:endParaRPr lang="pt-BR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endParaRPr lang="pt-BR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endParaRPr lang="pt-BR" sz="2400" dirty="0">
              <a:solidFill>
                <a:srgbClr val="000000"/>
              </a:solidFill>
              <a:effectLst/>
              <a:latin typeface="Agency FB" panose="020B0503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36824A5-7759-4A9A-B959-ED4E2B160A0F}"/>
              </a:ext>
            </a:extLst>
          </p:cNvPr>
          <p:cNvSpPr txBox="1"/>
          <p:nvPr/>
        </p:nvSpPr>
        <p:spPr>
          <a:xfrm>
            <a:off x="418399" y="265466"/>
            <a:ext cx="10461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Segmentação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A39C3E8-63A6-4A48-99F5-4F34F8E85DB1}"/>
              </a:ext>
            </a:extLst>
          </p:cNvPr>
          <p:cNvSpPr/>
          <p:nvPr/>
        </p:nvSpPr>
        <p:spPr>
          <a:xfrm flipV="1">
            <a:off x="480528" y="884901"/>
            <a:ext cx="2459318" cy="4571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gency FB" panose="020B0503020202020204" pitchFamily="34" charset="0"/>
            </a:endParaRPr>
          </a:p>
        </p:txBody>
      </p:sp>
      <p:pic>
        <p:nvPicPr>
          <p:cNvPr id="7" name="Picture 2" descr="C:\Users\Lucio\Documents\artigo_2012_1\Resultado\Resultado\mdb010.tiff">
            <a:extLst>
              <a:ext uri="{FF2B5EF4-FFF2-40B4-BE49-F238E27FC236}">
                <a16:creationId xmlns:a16="http://schemas.microsoft.com/office/drawing/2014/main" id="{4F362DD8-CB36-4687-8DF9-BABA28E5EF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l="10991" t="46614" r="8379" b="9431"/>
          <a:stretch/>
        </p:blipFill>
        <p:spPr bwMode="auto">
          <a:xfrm>
            <a:off x="4367736" y="3465876"/>
            <a:ext cx="7647285" cy="312665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007191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1A5047E-4D7D-4859-97B7-99062A142F78}"/>
              </a:ext>
            </a:extLst>
          </p:cNvPr>
          <p:cNvSpPr txBox="1"/>
          <p:nvPr/>
        </p:nvSpPr>
        <p:spPr>
          <a:xfrm>
            <a:off x="418399" y="1107648"/>
            <a:ext cx="11355201" cy="57720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2400" dirty="0">
                <a:effectLst/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 segmentação por limiarização consiste em encontrar um limiar em um histograma de 256 níveis de cinza, que melhor separa as fases associadas às fases em questão</a:t>
            </a:r>
          </a:p>
          <a:p>
            <a:pPr marL="742950" lvl="1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2400" dirty="0"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definição do limiar (</a:t>
            </a:r>
            <a:r>
              <a:rPr lang="pt-BR" sz="2400" i="1" dirty="0" err="1"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Threshold</a:t>
            </a:r>
            <a:r>
              <a:rPr lang="pt-BR" sz="2400" dirty="0"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é definida por tentativa e erro.</a:t>
            </a:r>
          </a:p>
          <a:p>
            <a:pPr marL="742950" lvl="1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2400" dirty="0"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Em condições de boa iluminação e baixo ruído, a técnica pode ser satisfatória</a:t>
            </a: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r>
              <a:rPr lang="pt-BR" sz="2400" dirty="0"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limiar pode ser definido por</a:t>
            </a: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endParaRPr lang="pt-BR" sz="2400" dirty="0">
              <a:latin typeface="Agency FB" panose="020B05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endParaRPr lang="pt-BR" sz="2400" dirty="0">
              <a:latin typeface="Agency FB" panose="020B05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15000"/>
              </a:lnSpc>
              <a:spcAft>
                <a:spcPts val="1000"/>
              </a:spcAft>
              <a:tabLst>
                <a:tab pos="540385" algn="l"/>
              </a:tabLst>
            </a:pPr>
            <a:r>
              <a:rPr lang="pt-BR" sz="2400" dirty="0"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   Sendo T o limiar</a:t>
            </a:r>
          </a:p>
          <a:p>
            <a:pPr marL="742950" lvl="1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endParaRPr lang="pt-BR" sz="2400" dirty="0">
              <a:effectLst/>
              <a:latin typeface="Agency FB" panose="020B0503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endParaRPr lang="pt-BR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540385" algn="l"/>
              </a:tabLst>
            </a:pPr>
            <a:endParaRPr lang="pt-BR" sz="2400" dirty="0">
              <a:solidFill>
                <a:srgbClr val="000000"/>
              </a:solidFill>
              <a:effectLst/>
              <a:latin typeface="Agency FB" panose="020B050302020202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36824A5-7759-4A9A-B959-ED4E2B160A0F}"/>
              </a:ext>
            </a:extLst>
          </p:cNvPr>
          <p:cNvSpPr txBox="1"/>
          <p:nvPr/>
        </p:nvSpPr>
        <p:spPr>
          <a:xfrm>
            <a:off x="457727" y="268040"/>
            <a:ext cx="10461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Segmentação por Limiarização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A39C3E8-63A6-4A48-99F5-4F34F8E85DB1}"/>
              </a:ext>
            </a:extLst>
          </p:cNvPr>
          <p:cNvSpPr/>
          <p:nvPr/>
        </p:nvSpPr>
        <p:spPr>
          <a:xfrm flipV="1">
            <a:off x="480528" y="875070"/>
            <a:ext cx="5615472" cy="5554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gency FB" panose="020B0503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E4B9E972-5593-4FDD-B996-7B5D3170BB08}"/>
                  </a:ext>
                </a:extLst>
              </p:cNvPr>
              <p:cNvSpPr txBox="1"/>
              <p:nvPr/>
            </p:nvSpPr>
            <p:spPr>
              <a:xfrm>
                <a:off x="2266687" y="3298365"/>
                <a:ext cx="6096000" cy="1426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20040">
                  <a:lnSpc>
                    <a:spcPct val="115000"/>
                  </a:lnSpc>
                </a:pPr>
                <a:r>
                  <a:rPr lang="pt-BR" sz="28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320040" algn="ctr">
                  <a:lnSpc>
                    <a:spcPct val="115000"/>
                  </a:lnSpc>
                  <a:spcAft>
                    <a:spcPts val="1000"/>
                  </a:spcAft>
                </a:pPr>
                <a14:m>
                  <m:oMathPara xmlns:m="http://schemas.openxmlformats.org/officeDocument/2006/math">
                    <m:oMath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𝑔</m:t>
                      </m:r>
                      <m:d>
                        <m:dPr>
                          <m:ctrlP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𝑥</m:t>
                          </m:r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</m:d>
                      <m:r>
                        <a:rPr lang="pt-BR" sz="1800" i="1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pt-BR" sz="1800" i="1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eqArrPr>
                            <m:e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1,   </m:t>
                              </m:r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𝑠𝑒</m:t>
                              </m:r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t-BR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pt-BR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pt-BR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&gt;</m:t>
                              </m:r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</m:e>
                            <m:e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0,   </m:t>
                              </m:r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𝑠𝑒</m:t>
                              </m:r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𝑓</m:t>
                              </m:r>
                              <m:d>
                                <m:dPr>
                                  <m:ctrlPr>
                                    <a:rPr lang="pt-BR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pt-BR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𝑥</m:t>
                                  </m:r>
                                  <m:r>
                                    <a:rPr lang="pt-BR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,</m:t>
                                  </m:r>
                                  <m:r>
                                    <a:rPr lang="pt-BR" sz="1800" i="1">
                                      <a:effectLst/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Times New Roman" panose="02020603050405020304" pitchFamily="18" charset="0"/>
                                    </a:rPr>
                                    <m:t>𝑦</m:t>
                                  </m:r>
                                </m:e>
                              </m:d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&lt;</m:t>
                              </m:r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  <m:r>
                                <a:rPr lang="pt-BR" sz="1800" i="1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pt-BR" sz="28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CaixaDeTexto 7">
                <a:extLst>
                  <a:ext uri="{FF2B5EF4-FFF2-40B4-BE49-F238E27FC236}">
                    <a16:creationId xmlns:a16="http://schemas.microsoft.com/office/drawing/2014/main" id="{E4B9E972-5593-4FDD-B996-7B5D3170B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6687" y="3298365"/>
                <a:ext cx="6096000" cy="142660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98842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036824A5-7759-4A9A-B959-ED4E2B160A0F}"/>
              </a:ext>
            </a:extLst>
          </p:cNvPr>
          <p:cNvSpPr txBox="1"/>
          <p:nvPr/>
        </p:nvSpPr>
        <p:spPr>
          <a:xfrm>
            <a:off x="457727" y="268040"/>
            <a:ext cx="10461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Segmentação por Limiarização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A39C3E8-63A6-4A48-99F5-4F34F8E85DB1}"/>
              </a:ext>
            </a:extLst>
          </p:cNvPr>
          <p:cNvSpPr/>
          <p:nvPr/>
        </p:nvSpPr>
        <p:spPr>
          <a:xfrm flipV="1">
            <a:off x="480528" y="875070"/>
            <a:ext cx="5615472" cy="5554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gency FB" panose="020B0503020202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DBF74D2-7781-4063-9A70-E11A5FF64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5541" y="1170179"/>
            <a:ext cx="5426178" cy="243873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E67F19DE-39CD-4E6C-962A-03B546384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7982" y="3848471"/>
            <a:ext cx="4961296" cy="2289829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CD5F1D2-26D4-4569-9A46-9255899E5219}"/>
              </a:ext>
            </a:extLst>
          </p:cNvPr>
          <p:cNvSpPr txBox="1"/>
          <p:nvPr/>
        </p:nvSpPr>
        <p:spPr>
          <a:xfrm>
            <a:off x="1641988" y="2064775"/>
            <a:ext cx="2349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002060"/>
                </a:solidFill>
                <a:latin typeface="Agency FB" panose="020B0503020202020204" pitchFamily="34" charset="0"/>
              </a:rPr>
              <a:t>Iluminação boa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3B10991-5AB5-4BC8-AF13-44AE0B5E30F6}"/>
              </a:ext>
            </a:extLst>
          </p:cNvPr>
          <p:cNvSpPr txBox="1"/>
          <p:nvPr/>
        </p:nvSpPr>
        <p:spPr>
          <a:xfrm>
            <a:off x="1061884" y="4626078"/>
            <a:ext cx="35789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>
                <a:solidFill>
                  <a:srgbClr val="FF0000"/>
                </a:solidFill>
                <a:latin typeface="Agency FB" panose="020B0503020202020204" pitchFamily="34" charset="0"/>
              </a:rPr>
              <a:t>Iluminação ruim</a:t>
            </a:r>
          </a:p>
          <a:p>
            <a:r>
              <a:rPr lang="pt-BR" sz="2000" dirty="0">
                <a:solidFill>
                  <a:srgbClr val="FF0000"/>
                </a:solidFill>
                <a:latin typeface="Agency FB" panose="020B0503020202020204" pitchFamily="34" charset="0"/>
              </a:rPr>
              <a:t>(Melhor aplicar limiarização adaptativa)</a:t>
            </a:r>
          </a:p>
        </p:txBody>
      </p:sp>
    </p:spTree>
    <p:extLst>
      <p:ext uri="{BB962C8B-B14F-4D97-AF65-F5344CB8AC3E}">
        <p14:creationId xmlns:p14="http://schemas.microsoft.com/office/powerpoint/2010/main" val="785946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036824A5-7759-4A9A-B959-ED4E2B160A0F}"/>
              </a:ext>
            </a:extLst>
          </p:cNvPr>
          <p:cNvSpPr txBox="1"/>
          <p:nvPr/>
        </p:nvSpPr>
        <p:spPr>
          <a:xfrm>
            <a:off x="398734" y="284287"/>
            <a:ext cx="10461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Binarização por OTSU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A39C3E8-63A6-4A48-99F5-4F34F8E85DB1}"/>
              </a:ext>
            </a:extLst>
          </p:cNvPr>
          <p:cNvSpPr/>
          <p:nvPr/>
        </p:nvSpPr>
        <p:spPr>
          <a:xfrm flipV="1">
            <a:off x="480528" y="884899"/>
            <a:ext cx="3914491" cy="4571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gency FB" panose="020B0503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5922CB-18E6-463A-B77D-0FF8B79AC2CD}"/>
              </a:ext>
            </a:extLst>
          </p:cNvPr>
          <p:cNvSpPr txBox="1"/>
          <p:nvPr/>
        </p:nvSpPr>
        <p:spPr>
          <a:xfrm>
            <a:off x="480528" y="1042219"/>
            <a:ext cx="1133659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effectLst/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Técnica que determina automaticamente um limiar ótimo de uma imagem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effectLst/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melhor funcionamento em imagens cujos histogramas são bimodais.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effectLst/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ideia é aproximar o histograma de uma imagem por duas funções Gaussianas e escolher o limiar de forma a minimizar a variância intraclasses. </a:t>
            </a:r>
          </a:p>
          <a:p>
            <a:pPr marL="742950" lvl="1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effectLst/>
                <a:latin typeface="Agency FB" panose="020B0503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Cada classe possui suas próprias características, ou seja, sua média e desvio-padrão.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>
              <a:latin typeface="Agency FB" panose="020B0503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024E6C-AA68-4F08-99F2-1C8B8C97B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167" y="2954890"/>
            <a:ext cx="9674942" cy="390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162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036824A5-7759-4A9A-B959-ED4E2B160A0F}"/>
              </a:ext>
            </a:extLst>
          </p:cNvPr>
          <p:cNvSpPr txBox="1"/>
          <p:nvPr/>
        </p:nvSpPr>
        <p:spPr>
          <a:xfrm>
            <a:off x="359405" y="277901"/>
            <a:ext cx="10461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Transformada de </a:t>
            </a:r>
            <a:r>
              <a:rPr lang="pt-BR" sz="3600" spc="3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Hough</a:t>
            </a:r>
            <a:endParaRPr lang="pt-BR" sz="3600" spc="300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</a:endParaRP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A39C3E8-63A6-4A48-99F5-4F34F8E85DB1}"/>
              </a:ext>
            </a:extLst>
          </p:cNvPr>
          <p:cNvSpPr/>
          <p:nvPr/>
        </p:nvSpPr>
        <p:spPr>
          <a:xfrm flipV="1">
            <a:off x="480528" y="884898"/>
            <a:ext cx="4307782" cy="6883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gency FB" panose="020B0503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5922CB-18E6-463A-B77D-0FF8B79AC2CD}"/>
              </a:ext>
            </a:extLst>
          </p:cNvPr>
          <p:cNvSpPr txBox="1"/>
          <p:nvPr/>
        </p:nvSpPr>
        <p:spPr>
          <a:xfrm>
            <a:off x="480528" y="1042219"/>
            <a:ext cx="113365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effectLst/>
                <a:latin typeface="Agency FB" panose="020B0503020202020204" pitchFamily="34" charset="0"/>
              </a:rPr>
              <a:t>A transformada de </a:t>
            </a:r>
            <a:r>
              <a:rPr lang="pt-BR" sz="2400" dirty="0" err="1">
                <a:effectLst/>
                <a:latin typeface="Agency FB" panose="020B0503020202020204" pitchFamily="34" charset="0"/>
              </a:rPr>
              <a:t>Hough</a:t>
            </a:r>
            <a:r>
              <a:rPr lang="pt-BR" sz="2400" dirty="0">
                <a:effectLst/>
                <a:latin typeface="Agency FB" panose="020B0503020202020204" pitchFamily="34" charset="0"/>
              </a:rPr>
              <a:t> é capaz de detectar grupos de pixels que pertencem a uma linha reta (mesmo que esteja quebrada e/ou com ruídos) ou de bordas de círculos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8C5AAF0-6515-4768-82F6-CFFA5335BA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135" y="2281388"/>
            <a:ext cx="5340168" cy="3721203"/>
          </a:xfrm>
          <a:prstGeom prst="rect">
            <a:avLst/>
          </a:prstGeom>
        </p:spPr>
      </p:pic>
      <p:pic>
        <p:nvPicPr>
          <p:cNvPr id="7" name="Imagem 6" descr="Imagem em preto e branco&#10;&#10;Descrição gerada automaticamente">
            <a:extLst>
              <a:ext uri="{FF2B5EF4-FFF2-40B4-BE49-F238E27FC236}">
                <a16:creationId xmlns:a16="http://schemas.microsoft.com/office/drawing/2014/main" id="{5886A19E-6D69-4281-A47C-99F0EFD664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587" y="2318258"/>
            <a:ext cx="4210666" cy="368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1104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036824A5-7759-4A9A-B959-ED4E2B160A0F}"/>
              </a:ext>
            </a:extLst>
          </p:cNvPr>
          <p:cNvSpPr txBox="1"/>
          <p:nvPr/>
        </p:nvSpPr>
        <p:spPr>
          <a:xfrm>
            <a:off x="379069" y="312313"/>
            <a:ext cx="10461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Transformada de </a:t>
            </a:r>
            <a:r>
              <a:rPr lang="pt-BR" sz="3600" spc="3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Hough</a:t>
            </a:r>
            <a:r>
              <a:rPr lang="pt-BR" sz="36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na detecção de linhas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A39C3E8-63A6-4A48-99F5-4F34F8E85DB1}"/>
              </a:ext>
            </a:extLst>
          </p:cNvPr>
          <p:cNvSpPr/>
          <p:nvPr/>
        </p:nvSpPr>
        <p:spPr>
          <a:xfrm flipV="1">
            <a:off x="480527" y="904568"/>
            <a:ext cx="8250517" cy="4916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gency FB" panose="020B05030202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B85922CB-18E6-463A-B77D-0FF8B79AC2CD}"/>
              </a:ext>
            </a:extLst>
          </p:cNvPr>
          <p:cNvSpPr txBox="1"/>
          <p:nvPr/>
        </p:nvSpPr>
        <p:spPr>
          <a:xfrm>
            <a:off x="480528" y="1042219"/>
            <a:ext cx="113365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effectLst/>
                <a:latin typeface="Agency FB" panose="020B0503020202020204" pitchFamily="34" charset="0"/>
              </a:rPr>
              <a:t>Uma linha reta é geralmente descrita como </a:t>
            </a:r>
            <a:r>
              <a:rPr lang="pt-BR" sz="2400" b="1" dirty="0">
                <a:effectLst/>
                <a:latin typeface="Agency FB" panose="020B0503020202020204" pitchFamily="34" charset="0"/>
              </a:rPr>
              <a:t>y = </a:t>
            </a:r>
            <a:r>
              <a:rPr lang="pt-BR" sz="2400" b="1" dirty="0" err="1">
                <a:latin typeface="Agency FB" panose="020B0503020202020204" pitchFamily="34" charset="0"/>
              </a:rPr>
              <a:t>a</a:t>
            </a:r>
            <a:r>
              <a:rPr lang="pt-BR" sz="2400" b="1" dirty="0" err="1">
                <a:effectLst/>
                <a:latin typeface="Agency FB" panose="020B0503020202020204" pitchFamily="34" charset="0"/>
              </a:rPr>
              <a:t>x</a:t>
            </a:r>
            <a:r>
              <a:rPr lang="pt-BR" sz="2400" b="1" dirty="0">
                <a:effectLst/>
                <a:latin typeface="Agency FB" panose="020B0503020202020204" pitchFamily="34" charset="0"/>
              </a:rPr>
              <a:t> + b</a:t>
            </a:r>
            <a:r>
              <a:rPr lang="pt-BR" sz="2400" dirty="0">
                <a:effectLst/>
                <a:latin typeface="Agency FB" panose="020B0503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effectLst/>
                <a:latin typeface="Agency FB" panose="020B0503020202020204" pitchFamily="34" charset="0"/>
              </a:rPr>
              <a:t>As características desta reta são a inclinação </a:t>
            </a:r>
            <a:r>
              <a:rPr lang="pt-BR" sz="2400" b="1" dirty="0">
                <a:latin typeface="Agency FB" panose="020B0503020202020204" pitchFamily="34" charset="0"/>
              </a:rPr>
              <a:t>a</a:t>
            </a:r>
            <a:r>
              <a:rPr lang="pt-BR" sz="2400" dirty="0">
                <a:effectLst/>
                <a:latin typeface="Agency FB" panose="020B0503020202020204" pitchFamily="34" charset="0"/>
              </a:rPr>
              <a:t> e a intersecção </a:t>
            </a:r>
            <a:r>
              <a:rPr lang="pt-BR" sz="2400" b="1" dirty="0">
                <a:effectLst/>
                <a:latin typeface="Agency FB" panose="020B0503020202020204" pitchFamily="34" charset="0"/>
              </a:rPr>
              <a:t>b</a:t>
            </a:r>
            <a:r>
              <a:rPr lang="pt-BR" sz="2400" dirty="0">
                <a:effectLst/>
                <a:latin typeface="Agency FB" panose="020B0503020202020204" pitchFamily="34" charset="0"/>
              </a:rPr>
              <a:t>.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pt-BR" sz="2400" dirty="0">
                <a:latin typeface="Agency FB" panose="020B0503020202020204" pitchFamily="34" charset="0"/>
              </a:rPr>
              <a:t>Dessa forma</a:t>
            </a:r>
            <a:r>
              <a:rPr lang="pt-BR" sz="2400" dirty="0">
                <a:effectLst/>
                <a:latin typeface="Agency FB" panose="020B0503020202020204" pitchFamily="34" charset="0"/>
              </a:rPr>
              <a:t>, uma reta </a:t>
            </a:r>
            <a:r>
              <a:rPr lang="pt-BR" sz="2400" b="1" dirty="0">
                <a:effectLst/>
                <a:latin typeface="Agency FB" panose="020B0503020202020204" pitchFamily="34" charset="0"/>
              </a:rPr>
              <a:t>y = </a:t>
            </a:r>
            <a:r>
              <a:rPr lang="pt-BR" sz="2400" b="1" dirty="0" err="1">
                <a:latin typeface="Agency FB" panose="020B0503020202020204" pitchFamily="34" charset="0"/>
              </a:rPr>
              <a:t>a</a:t>
            </a:r>
            <a:r>
              <a:rPr lang="pt-BR" sz="2400" b="1" dirty="0" err="1">
                <a:effectLst/>
                <a:latin typeface="Agency FB" panose="020B0503020202020204" pitchFamily="34" charset="0"/>
              </a:rPr>
              <a:t>x</a:t>
            </a:r>
            <a:r>
              <a:rPr lang="pt-BR" sz="2400" b="1" dirty="0">
                <a:effectLst/>
                <a:latin typeface="Agency FB" panose="020B0503020202020204" pitchFamily="34" charset="0"/>
              </a:rPr>
              <a:t> + b </a:t>
            </a:r>
            <a:r>
              <a:rPr lang="pt-BR" sz="2400" dirty="0">
                <a:effectLst/>
                <a:latin typeface="Agency FB" panose="020B0503020202020204" pitchFamily="34" charset="0"/>
              </a:rPr>
              <a:t>pode ser representada como um ponto (a, </a:t>
            </a:r>
            <a:r>
              <a:rPr lang="pt-BR" sz="2400" dirty="0">
                <a:latin typeface="Agency FB" panose="020B0503020202020204" pitchFamily="34" charset="0"/>
              </a:rPr>
              <a:t>b</a:t>
            </a:r>
            <a:r>
              <a:rPr lang="pt-BR" sz="2400" dirty="0">
                <a:effectLst/>
                <a:latin typeface="Agency FB" panose="020B0503020202020204" pitchFamily="34" charset="0"/>
              </a:rPr>
              <a:t>) no espaço dos parâmetros.</a:t>
            </a:r>
            <a:endParaRPr lang="pt-BR" sz="2400" dirty="0">
              <a:latin typeface="Agency FB" panose="020B0503020202020204" pitchFamily="34" charset="0"/>
            </a:endParaRPr>
          </a:p>
        </p:txBody>
      </p:sp>
      <p:pic>
        <p:nvPicPr>
          <p:cNvPr id="5" name="Imagem 4" descr="Imagem em preto e branco&#10;&#10;Descrição gerada automaticamente">
            <a:extLst>
              <a:ext uri="{FF2B5EF4-FFF2-40B4-BE49-F238E27FC236}">
                <a16:creationId xmlns:a16="http://schemas.microsoft.com/office/drawing/2014/main" id="{1163F501-74AB-42E4-819A-171BBD9B74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9370" y="3165192"/>
            <a:ext cx="1823269" cy="19566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658EBC6F-E71B-4616-85CF-4C0203EDC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066" y="2800199"/>
            <a:ext cx="3305175" cy="2667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6F84561-4866-43E4-9DCA-542CEFE81B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6857" y="2753805"/>
            <a:ext cx="3314700" cy="27527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629018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036824A5-7759-4A9A-B959-ED4E2B160A0F}"/>
              </a:ext>
            </a:extLst>
          </p:cNvPr>
          <p:cNvSpPr txBox="1"/>
          <p:nvPr/>
        </p:nvSpPr>
        <p:spPr>
          <a:xfrm>
            <a:off x="379069" y="312313"/>
            <a:ext cx="10461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Transformada de </a:t>
            </a:r>
            <a:r>
              <a:rPr lang="pt-BR" sz="3600" spc="3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Hough</a:t>
            </a:r>
            <a:r>
              <a:rPr lang="pt-BR" sz="36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na detecção de linhas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A39C3E8-63A6-4A48-99F5-4F34F8E85DB1}"/>
              </a:ext>
            </a:extLst>
          </p:cNvPr>
          <p:cNvSpPr/>
          <p:nvPr/>
        </p:nvSpPr>
        <p:spPr>
          <a:xfrm flipV="1">
            <a:off x="480527" y="904568"/>
            <a:ext cx="8250517" cy="4916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gency FB" panose="020B0503020202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8E7C124-C3A6-494F-A169-C9DCF44B3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610" y="2093913"/>
            <a:ext cx="3305175" cy="2743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5B3AFF04-44FC-435D-894B-D87548D601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2343" y="2119312"/>
            <a:ext cx="3286125" cy="26193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Imagem 11" descr="Imagem em preto e branco&#10;&#10;Descrição gerada automaticamente">
            <a:extLst>
              <a:ext uri="{FF2B5EF4-FFF2-40B4-BE49-F238E27FC236}">
                <a16:creationId xmlns:a16="http://schemas.microsoft.com/office/drawing/2014/main" id="{21490FDF-0B16-4AB3-A51B-B1AC527BAD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893" y="4837113"/>
            <a:ext cx="1823269" cy="19566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797718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036824A5-7759-4A9A-B959-ED4E2B160A0F}"/>
              </a:ext>
            </a:extLst>
          </p:cNvPr>
          <p:cNvSpPr txBox="1"/>
          <p:nvPr/>
        </p:nvSpPr>
        <p:spPr>
          <a:xfrm>
            <a:off x="379069" y="312313"/>
            <a:ext cx="10461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Transformada de </a:t>
            </a:r>
            <a:r>
              <a:rPr lang="pt-BR" sz="3600" spc="3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Hough</a:t>
            </a:r>
            <a:r>
              <a:rPr lang="pt-BR" sz="36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na detecção de linhas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A39C3E8-63A6-4A48-99F5-4F34F8E85DB1}"/>
              </a:ext>
            </a:extLst>
          </p:cNvPr>
          <p:cNvSpPr/>
          <p:nvPr/>
        </p:nvSpPr>
        <p:spPr>
          <a:xfrm flipV="1">
            <a:off x="480527" y="904568"/>
            <a:ext cx="8250517" cy="4916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gency FB" panose="020B0503020202020204" pitchFamily="34" charset="0"/>
            </a:endParaRPr>
          </a:p>
        </p:txBody>
      </p:sp>
      <p:pic>
        <p:nvPicPr>
          <p:cNvPr id="12" name="Imagem 11" descr="Imagem em preto e branco&#10;&#10;Descrição gerada automaticamente">
            <a:extLst>
              <a:ext uri="{FF2B5EF4-FFF2-40B4-BE49-F238E27FC236}">
                <a16:creationId xmlns:a16="http://schemas.microsoft.com/office/drawing/2014/main" id="{21490FDF-0B16-4AB3-A51B-B1AC527BA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893" y="4837113"/>
            <a:ext cx="1823269" cy="19566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91DF6A9E-19C4-48B8-930F-65427F2E4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610" y="2052637"/>
            <a:ext cx="3305175" cy="27527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A201407-72E7-47B2-B6B3-5AACAA6E9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629" y="2136775"/>
            <a:ext cx="3305175" cy="26574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3308023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036824A5-7759-4A9A-B959-ED4E2B160A0F}"/>
              </a:ext>
            </a:extLst>
          </p:cNvPr>
          <p:cNvSpPr txBox="1"/>
          <p:nvPr/>
        </p:nvSpPr>
        <p:spPr>
          <a:xfrm>
            <a:off x="379069" y="312313"/>
            <a:ext cx="10461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Transformada de </a:t>
            </a:r>
            <a:r>
              <a:rPr lang="pt-BR" sz="3600" spc="3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Hough</a:t>
            </a:r>
            <a:r>
              <a:rPr lang="pt-BR" sz="36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na detecção de linhas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A39C3E8-63A6-4A48-99F5-4F34F8E85DB1}"/>
              </a:ext>
            </a:extLst>
          </p:cNvPr>
          <p:cNvSpPr/>
          <p:nvPr/>
        </p:nvSpPr>
        <p:spPr>
          <a:xfrm flipV="1">
            <a:off x="480527" y="904568"/>
            <a:ext cx="8250517" cy="4916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gency FB" panose="020B0503020202020204" pitchFamily="34" charset="0"/>
            </a:endParaRPr>
          </a:p>
        </p:txBody>
      </p:sp>
      <p:pic>
        <p:nvPicPr>
          <p:cNvPr id="12" name="Imagem 11" descr="Imagem em preto e branco&#10;&#10;Descrição gerada automaticamente">
            <a:extLst>
              <a:ext uri="{FF2B5EF4-FFF2-40B4-BE49-F238E27FC236}">
                <a16:creationId xmlns:a16="http://schemas.microsoft.com/office/drawing/2014/main" id="{21490FDF-0B16-4AB3-A51B-B1AC527BAD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893" y="4837113"/>
            <a:ext cx="1823269" cy="19566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9116055-EB6E-44CA-855C-4A5489BBE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1085" y="2047875"/>
            <a:ext cx="3314700" cy="27622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8C3CF08-564B-4E64-95A1-BE2F5D4A1D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484" y="2139593"/>
            <a:ext cx="3305175" cy="26574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79268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036824A5-7759-4A9A-B959-ED4E2B160A0F}"/>
              </a:ext>
            </a:extLst>
          </p:cNvPr>
          <p:cNvSpPr txBox="1"/>
          <p:nvPr/>
        </p:nvSpPr>
        <p:spPr>
          <a:xfrm>
            <a:off x="379069" y="312313"/>
            <a:ext cx="10461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Transformada de </a:t>
            </a:r>
            <a:r>
              <a:rPr lang="pt-BR" sz="3600" spc="3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Hough</a:t>
            </a:r>
            <a:r>
              <a:rPr lang="pt-BR" sz="36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na detecção de linhas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A39C3E8-63A6-4A48-99F5-4F34F8E85DB1}"/>
              </a:ext>
            </a:extLst>
          </p:cNvPr>
          <p:cNvSpPr/>
          <p:nvPr/>
        </p:nvSpPr>
        <p:spPr>
          <a:xfrm flipV="1">
            <a:off x="480527" y="904568"/>
            <a:ext cx="8250517" cy="4916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gency FB" panose="020B0503020202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EB9F970-D57F-489F-A47F-7048B3861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610" y="2067232"/>
            <a:ext cx="3305175" cy="2743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Imagem 8" descr="Imagem em preto e branco&#10;&#10;Descrição gerada automaticamente">
            <a:extLst>
              <a:ext uri="{FF2B5EF4-FFF2-40B4-BE49-F238E27FC236}">
                <a16:creationId xmlns:a16="http://schemas.microsoft.com/office/drawing/2014/main" id="{9703237F-E846-4A2F-BC6B-9D1F80D4B2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2893" y="4837113"/>
            <a:ext cx="1823269" cy="195667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82203B8-66CE-4662-AD37-A9D663ABA1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745" y="2105025"/>
            <a:ext cx="3295650" cy="26479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169313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036824A5-7759-4A9A-B959-ED4E2B160A0F}"/>
              </a:ext>
            </a:extLst>
          </p:cNvPr>
          <p:cNvSpPr txBox="1"/>
          <p:nvPr/>
        </p:nvSpPr>
        <p:spPr>
          <a:xfrm>
            <a:off x="379069" y="312313"/>
            <a:ext cx="10461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Transformada de </a:t>
            </a:r>
            <a:r>
              <a:rPr lang="pt-BR" sz="3600" spc="3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Hough</a:t>
            </a:r>
            <a:r>
              <a:rPr lang="pt-BR" sz="36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na detecção de linhas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A39C3E8-63A6-4A48-99F5-4F34F8E85DB1}"/>
              </a:ext>
            </a:extLst>
          </p:cNvPr>
          <p:cNvSpPr/>
          <p:nvPr/>
        </p:nvSpPr>
        <p:spPr>
          <a:xfrm flipV="1">
            <a:off x="480527" y="904568"/>
            <a:ext cx="8250517" cy="49160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gency FB" panose="020B0503020202020204" pitchFamily="34" charset="0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EB9F970-D57F-489F-A47F-7048B3861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190" y="2057400"/>
            <a:ext cx="3305175" cy="2743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B3900B98-4B5B-459D-A911-41EAC9C5A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8143" y="2003371"/>
            <a:ext cx="2441262" cy="28267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22402364-51CF-484E-AF3C-1640CFB492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3249" y="2017387"/>
            <a:ext cx="3521332" cy="282322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70918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aixaDeTexto 13">
            <a:extLst>
              <a:ext uri="{FF2B5EF4-FFF2-40B4-BE49-F238E27FC236}">
                <a16:creationId xmlns:a16="http://schemas.microsoft.com/office/drawing/2014/main" id="{036824A5-7759-4A9A-B959-ED4E2B160A0F}"/>
              </a:ext>
            </a:extLst>
          </p:cNvPr>
          <p:cNvSpPr txBox="1"/>
          <p:nvPr/>
        </p:nvSpPr>
        <p:spPr>
          <a:xfrm>
            <a:off x="428229" y="371302"/>
            <a:ext cx="104611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Transformada de </a:t>
            </a:r>
            <a:r>
              <a:rPr lang="pt-BR" sz="3600" spc="300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Hough</a:t>
            </a:r>
            <a:r>
              <a:rPr lang="pt-BR" sz="3600" spc="300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</a:rPr>
              <a:t> na detecção de círculos</a:t>
            </a:r>
          </a:p>
        </p:txBody>
      </p: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BA39C3E8-63A6-4A48-99F5-4F34F8E85DB1}"/>
              </a:ext>
            </a:extLst>
          </p:cNvPr>
          <p:cNvSpPr/>
          <p:nvPr/>
        </p:nvSpPr>
        <p:spPr>
          <a:xfrm>
            <a:off x="480527" y="953727"/>
            <a:ext cx="8732299" cy="45719"/>
          </a:xfrm>
          <a:prstGeom prst="round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atin typeface="Agency FB" panose="020B0503020202020204" pitchFamily="34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0E86D7F-5745-43C4-AFF6-25D9EFEAB9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9920" y="1769500"/>
            <a:ext cx="3876675" cy="379095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F7D3F9A2-F648-4C44-BD00-10D2DCE1A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157" y="1942613"/>
            <a:ext cx="3561275" cy="344472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0672981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13051</TotalTime>
  <Words>394</Words>
  <Application>Microsoft Office PowerPoint</Application>
  <PresentationFormat>Widescreen</PresentationFormat>
  <Paragraphs>58</Paragraphs>
  <Slides>15</Slides>
  <Notes>0</Notes>
  <HiddenSlides>0</HiddenSlides>
  <MMClips>1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Agency FB</vt:lpstr>
      <vt:lpstr>Arial</vt:lpstr>
      <vt:lpstr>Calibri</vt:lpstr>
      <vt:lpstr>Calibri Light</vt:lpstr>
      <vt:lpstr>Cambria Math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lúcio flávio</dc:creator>
  <cp:lastModifiedBy>lúcio flávio campos</cp:lastModifiedBy>
  <cp:revision>237</cp:revision>
  <dcterms:created xsi:type="dcterms:W3CDTF">2020-10-10T12:35:48Z</dcterms:created>
  <dcterms:modified xsi:type="dcterms:W3CDTF">2026-09-26T14:49:08Z</dcterms:modified>
</cp:coreProperties>
</file>